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elegraf 1 Bold" charset="1" panose="00000800000000000000"/>
      <p:regular r:id="rId18"/>
    </p:embeddedFont>
    <p:embeddedFont>
      <p:font typeface="Telegraf 2 Bold" charset="1" panose="00000800000000000000"/>
      <p:regular r:id="rId19"/>
    </p:embeddedFont>
    <p:embeddedFont>
      <p:font typeface="Telegraf 2" charset="1" panose="00000500000000000000"/>
      <p:regular r:id="rId20"/>
    </p:embeddedFont>
    <p:embeddedFont>
      <p:font typeface="Telegraf 1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2E3A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847676" y="8707792"/>
            <a:ext cx="2735474" cy="893408"/>
          </a:xfrm>
          <a:custGeom>
            <a:avLst/>
            <a:gdLst/>
            <a:ahLst/>
            <a:cxnLst/>
            <a:rect r="r" b="b" t="t" l="l"/>
            <a:pathLst>
              <a:path h="893408" w="2735474">
                <a:moveTo>
                  <a:pt x="0" y="0"/>
                </a:moveTo>
                <a:lnTo>
                  <a:pt x="2735474" y="0"/>
                </a:lnTo>
                <a:lnTo>
                  <a:pt x="2735474" y="893408"/>
                </a:lnTo>
                <a:lnTo>
                  <a:pt x="0" y="8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5" t="-26615" r="-10522" b="-1048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30629" y="2658499"/>
            <a:ext cx="9826743" cy="205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00"/>
              </a:lnSpc>
            </a:pPr>
            <a:r>
              <a:rPr lang="en-US" b="true" sz="7000" spc="-70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EDA 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NSL-KDD Dataset</a:t>
            </a:r>
          </a:p>
          <a:p>
            <a:pPr algn="ctr" marL="0" indent="0" lvl="0">
              <a:lnSpc>
                <a:spcPts val="77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51004" y="5048250"/>
            <a:ext cx="6185991" cy="106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4A90A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Group 2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4A90A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Zahra Joulaei, Will Daly, Wei Dong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27704" y="1364333"/>
            <a:ext cx="3990482" cy="933848"/>
            <a:chOff x="0" y="0"/>
            <a:chExt cx="5320643" cy="124513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0"/>
              <a:ext cx="5320643" cy="60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0"/>
                </a:lnSpc>
                <a:spcBef>
                  <a:spcPct val="0"/>
                </a:spcBef>
              </a:pPr>
              <a:r>
                <a:rPr lang="en-US" b="true" sz="2500" spc="-25" strike="noStrike" u="none">
                  <a:solidFill>
                    <a:srgbClr val="2E3A59"/>
                  </a:solidFill>
                  <a:latin typeface="Telegraf 2 Bold"/>
                  <a:ea typeface="Telegraf 2 Bold"/>
                  <a:cs typeface="Telegraf 2 Bold"/>
                  <a:sym typeface="Telegraf 2 Bold"/>
                </a:rPr>
                <a:t>Exploratory Data Analysis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66766"/>
              <a:ext cx="5320643" cy="478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E3A59"/>
                  </a:solidFill>
                  <a:latin typeface="Telegraf 2"/>
                  <a:ea typeface="Telegraf 2"/>
                  <a:cs typeface="Telegraf 2"/>
                  <a:sym typeface="Telegraf 2"/>
                </a:rPr>
                <a:t>Class Distribution &amp; Imbalance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67531" y="1364333"/>
            <a:ext cx="3990482" cy="933848"/>
            <a:chOff x="0" y="0"/>
            <a:chExt cx="5320643" cy="124513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0"/>
              <a:ext cx="5320643" cy="60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0"/>
                </a:lnSpc>
                <a:spcBef>
                  <a:spcPct val="0"/>
                </a:spcBef>
              </a:pPr>
              <a:r>
                <a:rPr lang="en-US" b="true" sz="2500" spc="-25" strike="noStrike" u="none">
                  <a:solidFill>
                    <a:srgbClr val="2E3A59"/>
                  </a:solidFill>
                  <a:latin typeface="Telegraf 2 Bold"/>
                  <a:ea typeface="Telegraf 2 Bold"/>
                  <a:cs typeface="Telegraf 2 Bold"/>
                  <a:sym typeface="Telegraf 2 Bold"/>
                </a:rPr>
                <a:t>Problem Statement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66766"/>
              <a:ext cx="5320643" cy="478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E3A59"/>
                  </a:solidFill>
                  <a:latin typeface="Telegraf 2"/>
                  <a:ea typeface="Telegraf 2"/>
                  <a:cs typeface="Telegraf 2"/>
                  <a:sym typeface="Telegraf 2"/>
                </a:rPr>
                <a:t>Dataset &amp; Task Formulation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27704" y="4267318"/>
            <a:ext cx="3990482" cy="1762523"/>
            <a:chOff x="0" y="0"/>
            <a:chExt cx="5320643" cy="235003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0"/>
              <a:ext cx="5320643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0"/>
                </a:lnSpc>
                <a:spcBef>
                  <a:spcPct val="0"/>
                </a:spcBef>
              </a:pPr>
              <a:r>
                <a:rPr lang="en-US" b="true" sz="2500" spc="-25" strike="noStrike" u="none">
                  <a:solidFill>
                    <a:srgbClr val="2E3A59"/>
                  </a:solidFill>
                  <a:latin typeface="Telegraf 2 Bold"/>
                  <a:ea typeface="Telegraf 2 Bold"/>
                  <a:cs typeface="Telegraf 2 Bold"/>
                  <a:sym typeface="Telegraf 2 Bold"/>
                </a:rPr>
                <a:t>Implementation &amp; Code Overview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401766"/>
              <a:ext cx="5320643" cy="94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E3A59"/>
                  </a:solidFill>
                  <a:latin typeface="Telegraf 2"/>
                  <a:ea typeface="Telegraf 2"/>
                  <a:cs typeface="Telegraf 2"/>
                  <a:sym typeface="Telegraf 2"/>
                </a:rPr>
                <a:t>Data Loading &amp; Statistical Inspection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67531" y="4267318"/>
            <a:ext cx="3990482" cy="1286273"/>
            <a:chOff x="0" y="0"/>
            <a:chExt cx="5320643" cy="171503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0"/>
              <a:ext cx="5320643" cy="60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0"/>
                </a:lnSpc>
                <a:spcBef>
                  <a:spcPct val="0"/>
                </a:spcBef>
              </a:pPr>
              <a:r>
                <a:rPr lang="en-US" b="true" sz="2500" spc="-25" strike="noStrike" u="none">
                  <a:solidFill>
                    <a:srgbClr val="2E3A59"/>
                  </a:solidFill>
                  <a:latin typeface="Telegraf 2 Bold"/>
                  <a:ea typeface="Telegraf 2 Bold"/>
                  <a:cs typeface="Telegraf 2 Bold"/>
                  <a:sym typeface="Telegraf 2 Bold"/>
                </a:rPr>
                <a:t>Data Overview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66766"/>
              <a:ext cx="5320643" cy="94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E3A59"/>
                  </a:solidFill>
                  <a:latin typeface="Telegraf 2"/>
                  <a:ea typeface="Telegraf 2"/>
                  <a:cs typeface="Telegraf 2"/>
                  <a:sym typeface="Telegraf 2"/>
                </a:rPr>
                <a:t>Dataset Structure &amp; Feature Characteristics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3552825"/>
            <a:ext cx="4220002" cy="34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87"/>
              </a:lnSpc>
              <a:spcBef>
                <a:spcPct val="0"/>
              </a:spcBef>
            </a:pPr>
            <a:r>
              <a:rPr lang="en-US" b="true" sz="7406" spc="-74" strike="noStrike" u="none">
                <a:solidFill>
                  <a:srgbClr val="2E3A59"/>
                </a:solidFill>
                <a:latin typeface="Telegraf 2 Bold"/>
                <a:ea typeface="Telegraf 2 Bold"/>
                <a:cs typeface="Telegraf 2 Bold"/>
                <a:sym typeface="Telegraf 2 Bold"/>
              </a:rPr>
              <a:t>EDA </a:t>
            </a:r>
          </a:p>
          <a:p>
            <a:pPr algn="l" marL="0" indent="0" lvl="0">
              <a:lnSpc>
                <a:spcPts val="8887"/>
              </a:lnSpc>
              <a:spcBef>
                <a:spcPct val="0"/>
              </a:spcBef>
            </a:pPr>
            <a:r>
              <a:rPr lang="en-US" b="true" sz="7406" spc="-74" strike="noStrike" u="none">
                <a:solidFill>
                  <a:srgbClr val="2E3A59"/>
                </a:solidFill>
                <a:latin typeface="Telegraf 2 Bold"/>
                <a:ea typeface="Telegraf 2 Bold"/>
                <a:cs typeface="Telegraf 2 Bold"/>
                <a:sym typeface="Telegraf 2 Bold"/>
              </a:rPr>
              <a:t>NSL-KDD Dataset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627704" y="7170302"/>
            <a:ext cx="3990482" cy="1410098"/>
            <a:chOff x="0" y="0"/>
            <a:chExt cx="5320643" cy="188013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95250"/>
              <a:ext cx="5320643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0"/>
                </a:lnSpc>
                <a:spcBef>
                  <a:spcPct val="0"/>
                </a:spcBef>
              </a:pPr>
              <a:r>
                <a:rPr lang="en-US" b="true" sz="2500" spc="-25" strike="noStrike" u="none">
                  <a:solidFill>
                    <a:srgbClr val="2E3A59"/>
                  </a:solidFill>
                  <a:latin typeface="Telegraf 2 Bold"/>
                  <a:ea typeface="Telegraf 2 Bold"/>
                  <a:cs typeface="Telegraf 2 Bold"/>
                  <a:sym typeface="Telegraf 2 Bold"/>
                </a:rPr>
                <a:t>Findings &amp; Modeling Direction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401766"/>
              <a:ext cx="5320643" cy="478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E3A59"/>
                  </a:solidFill>
                  <a:latin typeface="Telegraf 2"/>
                  <a:ea typeface="Telegraf 2"/>
                  <a:cs typeface="Telegraf 2"/>
                  <a:sym typeface="Telegraf 2"/>
                </a:rPr>
                <a:t>Key Insights &amp; Next Steps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67531" y="7170302"/>
            <a:ext cx="3990482" cy="1286273"/>
            <a:chOff x="0" y="0"/>
            <a:chExt cx="5320643" cy="171503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95250"/>
              <a:ext cx="5320643" cy="60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0"/>
                </a:lnSpc>
                <a:spcBef>
                  <a:spcPct val="0"/>
                </a:spcBef>
              </a:pPr>
              <a:r>
                <a:rPr lang="en-US" b="true" sz="2500" spc="-25" strike="noStrike" u="none">
                  <a:solidFill>
                    <a:srgbClr val="2E3A59"/>
                  </a:solidFill>
                  <a:latin typeface="Telegraf 2 Bold"/>
                  <a:ea typeface="Telegraf 2 Bold"/>
                  <a:cs typeface="Telegraf 2 Bold"/>
                  <a:sym typeface="Telegraf 2 Bold"/>
                </a:rPr>
                <a:t>Data Preprocessing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66766"/>
              <a:ext cx="5320643" cy="94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2E3A59"/>
                  </a:solidFill>
                  <a:latin typeface="Telegraf 2"/>
                  <a:ea typeface="Telegraf 2"/>
                  <a:cs typeface="Telegraf 2"/>
                  <a:sym typeface="Telegraf 2"/>
                </a:rPr>
                <a:t>Cleaning Strategy &amp; Zero-Inflated Features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6104094" y="0"/>
            <a:ext cx="0" cy="1028700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2E3A59"/>
                </a:solidFill>
                <a:latin typeface="Telegraf 2 Bold"/>
                <a:ea typeface="Telegraf 2 Bold"/>
                <a:cs typeface="Telegraf 2 Bold"/>
                <a:sym typeface="Telegraf 2 Bold"/>
              </a:rPr>
              <a:t>2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847676" y="8707792"/>
            <a:ext cx="2735474" cy="893408"/>
          </a:xfrm>
          <a:custGeom>
            <a:avLst/>
            <a:gdLst/>
            <a:ahLst/>
            <a:cxnLst/>
            <a:rect r="r" b="b" t="t" l="l"/>
            <a:pathLst>
              <a:path h="893408" w="2735474">
                <a:moveTo>
                  <a:pt x="0" y="0"/>
                </a:moveTo>
                <a:lnTo>
                  <a:pt x="2735474" y="0"/>
                </a:lnTo>
                <a:lnTo>
                  <a:pt x="2735474" y="893408"/>
                </a:lnTo>
                <a:lnTo>
                  <a:pt x="0" y="8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5" t="-26615" r="-10522" b="-1048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970" y="647700"/>
            <a:ext cx="12925255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Problem Statement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206350"/>
            <a:ext cx="8308163" cy="6515081"/>
            <a:chOff x="0" y="0"/>
            <a:chExt cx="11077551" cy="868677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9156474" cy="726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9"/>
                </a:lnSpc>
              </a:pPr>
              <a:r>
                <a:rPr lang="en-US" b="true" sz="3499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Dataset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91117"/>
              <a:ext cx="11077551" cy="7595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Network Security Laboratory - Knowledge Discovery in Databases (NSL-KDD)</a:t>
              </a:r>
            </a:p>
            <a:p>
              <a:pPr algn="l">
                <a:lnSpc>
                  <a:spcPts val="3499"/>
                </a:lnSpc>
              </a:pP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The NSL-KDD dataset is a widely used benchmark dataset for network intrusion detection. It was developed by the Canadian Institute for Cybersecurity at the University of New Brunswick in 2009.</a:t>
              </a:r>
            </a:p>
            <a:p>
              <a:pPr algn="l">
                <a:lnSpc>
                  <a:spcPts val="3499"/>
                </a:lnSpc>
              </a:pP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The NSL-KDD is a </a:t>
              </a:r>
              <a:r>
                <a:rPr lang="en-US" b="true" sz="2499" strike="noStrike" u="none">
                  <a:solidFill>
                    <a:srgbClr val="2E3A5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refined version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 of the KDD Cup 1999 dataset, serving as a </a:t>
              </a:r>
              <a:r>
                <a:rPr lang="en-US" b="true" sz="2499" strike="noStrike" u="none">
                  <a:solidFill>
                    <a:srgbClr val="2E3A5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standard benchmark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 for intrusion detection while effectively removing redundant and biased records.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167938" y="2206350"/>
            <a:ext cx="6886575" cy="3448031"/>
            <a:chOff x="0" y="0"/>
            <a:chExt cx="9182100" cy="45973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9182100" cy="726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9"/>
                </a:lnSpc>
              </a:pPr>
              <a:r>
                <a:rPr lang="en-US" b="true" sz="3499" strike="noStrike" u="none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Task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91117"/>
              <a:ext cx="9182100" cy="3506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The primary task involves applying machine learning techniques to detect attacks, comparing two problem formulations: binary classification for normal versus attack and multi-class classification for different attack types.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2E3A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3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847676" y="8707792"/>
            <a:ext cx="2735474" cy="893408"/>
          </a:xfrm>
          <a:custGeom>
            <a:avLst/>
            <a:gdLst/>
            <a:ahLst/>
            <a:cxnLst/>
            <a:rect r="r" b="b" t="t" l="l"/>
            <a:pathLst>
              <a:path h="893408" w="2735474">
                <a:moveTo>
                  <a:pt x="0" y="0"/>
                </a:moveTo>
                <a:lnTo>
                  <a:pt x="2735474" y="0"/>
                </a:lnTo>
                <a:lnTo>
                  <a:pt x="2735474" y="893408"/>
                </a:lnTo>
                <a:lnTo>
                  <a:pt x="0" y="8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5" t="-26615" r="-10522" b="-10480"/>
            </a:stretch>
          </a:blipFill>
        </p:spPr>
      </p:sp>
      <p:sp>
        <p:nvSpPr>
          <p:cNvPr name="AutoShape 12" id="12"/>
          <p:cNvSpPr/>
          <p:nvPr/>
        </p:nvSpPr>
        <p:spPr>
          <a:xfrm flipH="true" flipV="true">
            <a:off x="695495" y="2206350"/>
            <a:ext cx="0" cy="6314771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9860848" y="2306506"/>
            <a:ext cx="0" cy="6314771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970" y="647700"/>
            <a:ext cx="12925255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Datas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e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t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 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&amp; T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a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sk Ov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e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rvi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e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w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28209" y="3100973"/>
            <a:ext cx="6867355" cy="3448031"/>
            <a:chOff x="0" y="0"/>
            <a:chExt cx="9156474" cy="459737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9156474" cy="726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9"/>
                </a:lnSpc>
              </a:pPr>
              <a:r>
                <a:rPr lang="en-US" b="true" sz="3499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Why NSL-K</a:t>
              </a:r>
              <a:r>
                <a:rPr lang="en-US" b="true" sz="3499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DD?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91117"/>
              <a:ext cx="9156474" cy="3506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W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idely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 Use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d Benchmark</a:t>
              </a:r>
            </a:p>
            <a:p>
              <a:pPr algn="l" marL="0" indent="0" lvl="0">
                <a:lnSpc>
                  <a:spcPts val="3499"/>
                </a:lnSpc>
              </a:pP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C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lean Data</a:t>
              </a:r>
            </a:p>
            <a:p>
              <a:pPr algn="l" marL="0" indent="0" lvl="0">
                <a:lnSpc>
                  <a:spcPts val="3499"/>
                </a:lnSpc>
              </a:pP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N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o Duplicates or Bias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472356" y="3100973"/>
            <a:ext cx="6886575" cy="4324331"/>
            <a:chOff x="0" y="0"/>
            <a:chExt cx="9182100" cy="57657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9182100" cy="726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9"/>
                </a:lnSpc>
              </a:pPr>
              <a:r>
                <a:rPr lang="en-US" b="true" sz="3499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Wh</a:t>
              </a:r>
              <a:r>
                <a:rPr lang="en-US" b="true" sz="3499" strike="noStrike" u="none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a</a:t>
              </a:r>
              <a:r>
                <a:rPr lang="en-US" b="true" sz="3499" strike="noStrike" u="none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t i</a:t>
              </a:r>
              <a:r>
                <a:rPr lang="en-US" b="true" sz="3499" strike="noStrike" u="none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s</a:t>
              </a:r>
              <a:r>
                <a:rPr lang="en-US" b="true" sz="3499" strike="noStrike" u="none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 the problem?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91117"/>
              <a:ext cx="9182100" cy="4674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A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pplying machine learning to detecting an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d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 classif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y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in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g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 n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etw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ork 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i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nt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ru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sion det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e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ct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ion.</a:t>
              </a:r>
            </a:p>
            <a:p>
              <a:pPr algn="l" marL="0" indent="0" lvl="0">
                <a:lnSpc>
                  <a:spcPts val="3499"/>
                </a:lnSpc>
              </a:pP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We also explore different label representations (multi-class vs. binary) to understand how the problem formulation affects modeling choices. </a:t>
              </a:r>
            </a:p>
            <a:p>
              <a:pPr algn="l" marL="0" indent="0" lvl="0">
                <a:lnSpc>
                  <a:spcPts val="3499"/>
                </a:lnSpc>
              </a:pP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2E3A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847676" y="8707792"/>
            <a:ext cx="2735474" cy="893408"/>
          </a:xfrm>
          <a:custGeom>
            <a:avLst/>
            <a:gdLst/>
            <a:ahLst/>
            <a:cxnLst/>
            <a:rect r="r" b="b" t="t" l="l"/>
            <a:pathLst>
              <a:path h="893408" w="2735474">
                <a:moveTo>
                  <a:pt x="0" y="0"/>
                </a:moveTo>
                <a:lnTo>
                  <a:pt x="2735474" y="0"/>
                </a:lnTo>
                <a:lnTo>
                  <a:pt x="2735474" y="893408"/>
                </a:lnTo>
                <a:lnTo>
                  <a:pt x="0" y="8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5" t="-26615" r="-10522" b="-10480"/>
            </a:stretch>
          </a:blipFill>
        </p:spPr>
      </p:sp>
      <p:sp>
        <p:nvSpPr>
          <p:cNvPr name="AutoShape 12" id="12"/>
          <p:cNvSpPr/>
          <p:nvPr/>
        </p:nvSpPr>
        <p:spPr>
          <a:xfrm flipH="true" flipV="true">
            <a:off x="647700" y="3100973"/>
            <a:ext cx="9525" cy="343645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7771752" y="3112519"/>
            <a:ext cx="9525" cy="343645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2E3A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847676" y="8707792"/>
            <a:ext cx="2735474" cy="893408"/>
          </a:xfrm>
          <a:custGeom>
            <a:avLst/>
            <a:gdLst/>
            <a:ahLst/>
            <a:cxnLst/>
            <a:rect r="r" b="b" t="t" l="l"/>
            <a:pathLst>
              <a:path h="893408" w="2735474">
                <a:moveTo>
                  <a:pt x="0" y="0"/>
                </a:moveTo>
                <a:lnTo>
                  <a:pt x="2735474" y="0"/>
                </a:lnTo>
                <a:lnTo>
                  <a:pt x="2735474" y="893408"/>
                </a:lnTo>
                <a:lnTo>
                  <a:pt x="0" y="8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5" t="-26615" r="-10522" b="-1048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47627" y="3592983"/>
            <a:ext cx="7303345" cy="2060347"/>
          </a:xfrm>
          <a:custGeom>
            <a:avLst/>
            <a:gdLst/>
            <a:ahLst/>
            <a:cxnLst/>
            <a:rect r="r" b="b" t="t" l="l"/>
            <a:pathLst>
              <a:path h="2060347" w="7303345">
                <a:moveTo>
                  <a:pt x="0" y="0"/>
                </a:moveTo>
                <a:lnTo>
                  <a:pt x="7303346" y="0"/>
                </a:lnTo>
                <a:lnTo>
                  <a:pt x="7303346" y="2060347"/>
                </a:lnTo>
                <a:lnTo>
                  <a:pt x="0" y="2060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21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5970" y="647700"/>
            <a:ext cx="12925255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Data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 Ov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e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rvi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e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57763" y="3484405"/>
            <a:ext cx="4125172" cy="2571731"/>
            <a:chOff x="0" y="0"/>
            <a:chExt cx="5500229" cy="34289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5500229" cy="726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9"/>
                </a:lnSpc>
              </a:pPr>
              <a:r>
                <a:rPr lang="en-US" b="true" sz="3499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Data Statistics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91117"/>
              <a:ext cx="5500229" cy="2337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Numb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er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 of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 rows: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 125973 </a:t>
              </a:r>
            </a:p>
            <a:p>
              <a:pPr algn="l">
                <a:lnSpc>
                  <a:spcPts val="3499"/>
                </a:lnSpc>
              </a:pPr>
            </a:p>
            <a:p>
              <a:pPr algn="l">
                <a:lnSpc>
                  <a:spcPts val="3499"/>
                </a:lnSpc>
              </a:pP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Number of columns: 43 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5</a:t>
            </a:r>
          </a:p>
        </p:txBody>
      </p:sp>
      <p:sp>
        <p:nvSpPr>
          <p:cNvPr name="AutoShape 10" id="10"/>
          <p:cNvSpPr/>
          <p:nvPr/>
        </p:nvSpPr>
        <p:spPr>
          <a:xfrm flipH="true" flipV="true">
            <a:off x="8853832" y="1986114"/>
            <a:ext cx="0" cy="6314771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970" y="647700"/>
            <a:ext cx="12925255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Data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 Ov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e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rvi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e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85970" y="2649547"/>
            <a:ext cx="16935280" cy="4635481"/>
            <a:chOff x="0" y="0"/>
            <a:chExt cx="22580374" cy="618064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2258037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T</a:t>
              </a:r>
              <a:r>
                <a:rPr lang="en-US" b="true" sz="3000" strike="noStrike" u="none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he F</a:t>
              </a:r>
              <a:r>
                <a:rPr lang="en-US" b="true" sz="3000" strike="noStrike" u="none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eatu</a:t>
              </a:r>
              <a:r>
                <a:rPr lang="en-US" b="true" sz="3000" strike="noStrike" u="none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re</a:t>
              </a:r>
              <a:r>
                <a:rPr lang="en-US" b="true" sz="3000" strike="noStrike" u="none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03275"/>
              <a:ext cx="22580374" cy="5177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1.Bas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ic Connection Features:  These are the fundamental properties of an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y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 n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etw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ork traff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ic.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0" indent="0" lvl="0">
                <a:lnSpc>
                  <a:spcPts val="2800"/>
                </a:lnSpc>
              </a:pP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2. Co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ntent-Based Featu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res The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se columns look inside th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e pa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ckets to f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ind</a:t>
              </a: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 suspicious behavior like unauthorized login attempts or file access.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0" indent="0" lvl="0">
                <a:lnSpc>
                  <a:spcPts val="2800"/>
                </a:lnSpc>
              </a:pP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3. Time-Based Traffic Features These track how many connections happened within a 2-second window.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0" indent="0" lvl="0">
                <a:lnSpc>
                  <a:spcPts val="2800"/>
                </a:lnSpc>
              </a:pP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4. Destination Host Features These look at a larger window of time (the last 100 connections) to the same destination host to identify slow-scanning attacks.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  <a:r>
                <a:rPr lang="en-US" sz="2000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5. Target Labels label: The "answer key." It tells you if the connection was normal or a specific type of attack (like neptune or satan).  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2E3A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847676" y="8707792"/>
            <a:ext cx="2735474" cy="893408"/>
          </a:xfrm>
          <a:custGeom>
            <a:avLst/>
            <a:gdLst/>
            <a:ahLst/>
            <a:cxnLst/>
            <a:rect r="r" b="b" t="t" l="l"/>
            <a:pathLst>
              <a:path h="893408" w="2735474">
                <a:moveTo>
                  <a:pt x="0" y="0"/>
                </a:moveTo>
                <a:lnTo>
                  <a:pt x="2735474" y="0"/>
                </a:lnTo>
                <a:lnTo>
                  <a:pt x="2735474" y="893408"/>
                </a:lnTo>
                <a:lnTo>
                  <a:pt x="0" y="8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5" t="-26615" r="-10522" b="-1048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970" y="647700"/>
            <a:ext cx="12925255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Data Preprocessing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85970" y="3352800"/>
            <a:ext cx="6867355" cy="5638781"/>
            <a:chOff x="0" y="0"/>
            <a:chExt cx="9156474" cy="751837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9156474" cy="726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9"/>
                </a:lnSpc>
              </a:pPr>
              <a:r>
                <a:rPr lang="en-US" b="true" sz="3499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Data Cleaning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91117"/>
              <a:ext cx="9156474" cy="6427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Th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i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s 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d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ata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set d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o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e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s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n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’t 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ha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v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e missing values.</a:t>
              </a:r>
            </a:p>
            <a:p>
              <a:pPr algn="l" marL="0" indent="0" lvl="0">
                <a:lnSpc>
                  <a:spcPts val="3499"/>
                </a:lnSpc>
              </a:pP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Outlier values are key data here for network traffic classification. </a:t>
              </a:r>
            </a:p>
            <a:p>
              <a:pPr algn="l" marL="0" indent="0" lvl="0">
                <a:lnSpc>
                  <a:spcPts val="3499"/>
                </a:lnSpc>
              </a:pP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Outlier values are key data here for network traffic classification. </a:t>
              </a:r>
            </a:p>
            <a:p>
              <a:pPr algn="l" marL="0" indent="0" lvl="0">
                <a:lnSpc>
                  <a:spcPts val="3499"/>
                </a:lnSpc>
              </a:pPr>
            </a:p>
            <a:p>
              <a:pPr algn="l" marL="0" indent="0" lvl="0">
                <a:lnSpc>
                  <a:spcPts val="3499"/>
                </a:lnSpc>
              </a:pPr>
            </a:p>
            <a:p>
              <a:pPr algn="l" marL="0" indent="0" lvl="0">
                <a:lnSpc>
                  <a:spcPts val="3499"/>
                </a:lnSpc>
              </a:pP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296400" y="4076681"/>
            <a:ext cx="6886575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2E3A59"/>
                </a:solidFill>
                <a:latin typeface="Telegraf 1"/>
                <a:ea typeface="Telegraf 1"/>
                <a:cs typeface="Telegraf 1"/>
                <a:sym typeface="Telegraf 1"/>
              </a:rPr>
              <a:t>Our</a:t>
            </a:r>
            <a:r>
              <a:rPr lang="en-US" sz="2499" strike="noStrike">
                <a:solidFill>
                  <a:srgbClr val="2E3A59"/>
                </a:solidFill>
                <a:latin typeface="Telegraf 1"/>
                <a:ea typeface="Telegraf 1"/>
                <a:cs typeface="Telegraf 1"/>
                <a:sym typeface="Telegraf 1"/>
              </a:rPr>
              <a:t> exploratory statisti</a:t>
            </a:r>
            <a:r>
              <a:rPr lang="en-US" sz="2499" strike="noStrike">
                <a:solidFill>
                  <a:srgbClr val="2E3A59"/>
                </a:solidFill>
                <a:latin typeface="Telegraf 1"/>
                <a:ea typeface="Telegraf 1"/>
                <a:cs typeface="Telegraf 1"/>
                <a:sym typeface="Telegraf 1"/>
              </a:rPr>
              <a:t>c</a:t>
            </a:r>
            <a:r>
              <a:rPr lang="en-US" sz="2499" strike="noStrike">
                <a:solidFill>
                  <a:srgbClr val="2E3A59"/>
                </a:solidFill>
                <a:latin typeface="Telegraf 1"/>
                <a:ea typeface="Telegraf 1"/>
                <a:cs typeface="Telegraf 1"/>
                <a:sym typeface="Telegraf 1"/>
              </a:rPr>
              <a:t>s con</a:t>
            </a:r>
            <a:r>
              <a:rPr lang="en-US" sz="2499" strike="noStrike">
                <a:solidFill>
                  <a:srgbClr val="2E3A59"/>
                </a:solidFill>
                <a:latin typeface="Telegraf 1"/>
                <a:ea typeface="Telegraf 1"/>
                <a:cs typeface="Telegraf 1"/>
                <a:sym typeface="Telegraf 1"/>
              </a:rPr>
              <a:t>firm</a:t>
            </a:r>
            <a:r>
              <a:rPr lang="en-US" sz="2499" strike="noStrike">
                <a:solidFill>
                  <a:srgbClr val="2E3A59"/>
                </a:solidFill>
                <a:latin typeface="Telegraf 1"/>
                <a:ea typeface="Telegraf 1"/>
                <a:cs typeface="Telegraf 1"/>
                <a:sym typeface="Telegraf 1"/>
              </a:rPr>
              <a:t> that zero values dominate many features and should be preserved rather than imputed. </a:t>
            </a:r>
          </a:p>
        </p:txBody>
      </p:sp>
      <p:sp>
        <p:nvSpPr>
          <p:cNvPr name="AutoShape 7" id="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2E3A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7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847676" y="8707792"/>
            <a:ext cx="2735474" cy="893408"/>
          </a:xfrm>
          <a:custGeom>
            <a:avLst/>
            <a:gdLst/>
            <a:ahLst/>
            <a:cxnLst/>
            <a:rect r="r" b="b" t="t" l="l"/>
            <a:pathLst>
              <a:path h="893408" w="2735474">
                <a:moveTo>
                  <a:pt x="0" y="0"/>
                </a:moveTo>
                <a:lnTo>
                  <a:pt x="2735474" y="0"/>
                </a:lnTo>
                <a:lnTo>
                  <a:pt x="2735474" y="893408"/>
                </a:lnTo>
                <a:lnTo>
                  <a:pt x="0" y="8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5" t="-26615" r="-10522" b="-10480"/>
            </a:stretch>
          </a:blipFill>
        </p:spPr>
      </p:sp>
      <p:sp>
        <p:nvSpPr>
          <p:cNvPr name="AutoShape 10" id="10"/>
          <p:cNvSpPr/>
          <p:nvPr/>
        </p:nvSpPr>
        <p:spPr>
          <a:xfrm flipH="true" flipV="true">
            <a:off x="8358070" y="1986114"/>
            <a:ext cx="0" cy="6314771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2E3A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847676" y="8707792"/>
            <a:ext cx="2735474" cy="893408"/>
          </a:xfrm>
          <a:custGeom>
            <a:avLst/>
            <a:gdLst/>
            <a:ahLst/>
            <a:cxnLst/>
            <a:rect r="r" b="b" t="t" l="l"/>
            <a:pathLst>
              <a:path h="893408" w="2735474">
                <a:moveTo>
                  <a:pt x="0" y="0"/>
                </a:moveTo>
                <a:lnTo>
                  <a:pt x="2735474" y="0"/>
                </a:lnTo>
                <a:lnTo>
                  <a:pt x="2735474" y="893408"/>
                </a:lnTo>
                <a:lnTo>
                  <a:pt x="0" y="8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5" t="-26615" r="-10522" b="-1048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6343" y="2238639"/>
            <a:ext cx="7636067" cy="5020714"/>
          </a:xfrm>
          <a:custGeom>
            <a:avLst/>
            <a:gdLst/>
            <a:ahLst/>
            <a:cxnLst/>
            <a:rect r="r" b="b" t="t" l="l"/>
            <a:pathLst>
              <a:path h="5020714" w="7636067">
                <a:moveTo>
                  <a:pt x="0" y="0"/>
                </a:moveTo>
                <a:lnTo>
                  <a:pt x="7636067" y="0"/>
                </a:lnTo>
                <a:lnTo>
                  <a:pt x="7636067" y="5020714"/>
                </a:lnTo>
                <a:lnTo>
                  <a:pt x="0" y="5020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63403" y="2238639"/>
            <a:ext cx="7224168" cy="4704740"/>
          </a:xfrm>
          <a:custGeom>
            <a:avLst/>
            <a:gdLst/>
            <a:ahLst/>
            <a:cxnLst/>
            <a:rect r="r" b="b" t="t" l="l"/>
            <a:pathLst>
              <a:path h="4704740" w="7224168">
                <a:moveTo>
                  <a:pt x="0" y="0"/>
                </a:moveTo>
                <a:lnTo>
                  <a:pt x="7224169" y="0"/>
                </a:lnTo>
                <a:lnTo>
                  <a:pt x="7224169" y="4704740"/>
                </a:lnTo>
                <a:lnTo>
                  <a:pt x="0" y="4704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5970" y="647700"/>
            <a:ext cx="12925255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Exploratory Data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767228"/>
            <a:ext cx="6886575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2E3A59"/>
                </a:solidFill>
                <a:latin typeface="Telegraf 1"/>
                <a:ea typeface="Telegraf 1"/>
                <a:cs typeface="Telegraf 1"/>
                <a:sym typeface="Telegraf 1"/>
              </a:rPr>
              <a:t>Th</a:t>
            </a:r>
            <a:r>
              <a:rPr lang="en-US" sz="2499" strike="noStrike">
                <a:solidFill>
                  <a:srgbClr val="2E3A59"/>
                </a:solidFill>
                <a:latin typeface="Telegraf 1"/>
                <a:ea typeface="Telegraf 1"/>
                <a:cs typeface="Telegraf 1"/>
                <a:sym typeface="Telegraf 1"/>
              </a:rPr>
              <a:t>is chart shows a clear imbalance between normal and attack data.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00997" y="6767228"/>
            <a:ext cx="6886575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2E3A59"/>
                </a:solidFill>
                <a:latin typeface="Telegraf 1"/>
                <a:ea typeface="Telegraf 1"/>
                <a:cs typeface="Telegraf 1"/>
                <a:sym typeface="Telegraf 1"/>
              </a:rPr>
              <a:t>The</a:t>
            </a:r>
            <a:r>
              <a:rPr lang="en-US" sz="2499" strike="noStrike">
                <a:solidFill>
                  <a:srgbClr val="2E3A59"/>
                </a:solidFill>
                <a:latin typeface="Telegraf 1"/>
                <a:ea typeface="Telegraf 1"/>
                <a:cs typeface="Telegraf 1"/>
                <a:sym typeface="Telegraf 1"/>
              </a:rPr>
              <a:t> data shows a clear imbalance, so we will focus on binary classification first.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2E3A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847676" y="8707792"/>
            <a:ext cx="2735474" cy="893408"/>
          </a:xfrm>
          <a:custGeom>
            <a:avLst/>
            <a:gdLst/>
            <a:ahLst/>
            <a:cxnLst/>
            <a:rect r="r" b="b" t="t" l="l"/>
            <a:pathLst>
              <a:path h="893408" w="2735474">
                <a:moveTo>
                  <a:pt x="0" y="0"/>
                </a:moveTo>
                <a:lnTo>
                  <a:pt x="2735474" y="0"/>
                </a:lnTo>
                <a:lnTo>
                  <a:pt x="2735474" y="893408"/>
                </a:lnTo>
                <a:lnTo>
                  <a:pt x="0" y="8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5" t="-26615" r="-10522" b="-1048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30051" y="2324109"/>
            <a:ext cx="7971373" cy="5968565"/>
          </a:xfrm>
          <a:custGeom>
            <a:avLst/>
            <a:gdLst/>
            <a:ahLst/>
            <a:cxnLst/>
            <a:rect r="r" b="b" t="t" l="l"/>
            <a:pathLst>
              <a:path h="5968565" w="7971373">
                <a:moveTo>
                  <a:pt x="0" y="0"/>
                </a:moveTo>
                <a:lnTo>
                  <a:pt x="7971372" y="0"/>
                </a:lnTo>
                <a:lnTo>
                  <a:pt x="7971372" y="5968566"/>
                </a:lnTo>
                <a:lnTo>
                  <a:pt x="0" y="596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5970" y="647700"/>
            <a:ext cx="16720933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Implementation &amp; Cod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8925" y="2324109"/>
            <a:ext cx="6867355" cy="5438122"/>
            <a:chOff x="0" y="0"/>
            <a:chExt cx="9156474" cy="725082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9156474" cy="726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9"/>
                </a:lnSpc>
              </a:pPr>
              <a:r>
                <a:rPr lang="en-US" b="true" sz="3499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Load and Check Data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91117"/>
              <a:ext cx="9156474" cy="6159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</a:pPr>
              <a:r>
                <a:rPr lang="en-US" sz="2899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Th</a:t>
              </a:r>
              <a:r>
                <a:rPr lang="en-US" sz="28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is </a:t>
              </a:r>
              <a:r>
                <a:rPr lang="en-US" sz="28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co</a:t>
              </a:r>
              <a:r>
                <a:rPr lang="en-US" sz="28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de lo</a:t>
              </a:r>
              <a:r>
                <a:rPr lang="en-US" sz="28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ad</a:t>
              </a:r>
              <a:r>
                <a:rPr lang="en-US" sz="28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s </a:t>
              </a:r>
              <a:r>
                <a:rPr lang="en-US" sz="28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t</a:t>
              </a:r>
              <a:r>
                <a:rPr lang="en-US" sz="28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he NSL-KDD data and checks its basic structure. </a:t>
              </a:r>
            </a:p>
            <a:p>
              <a:pPr algn="l" marL="0" indent="0" lvl="0">
                <a:lnSpc>
                  <a:spcPts val="4059"/>
                </a:lnSpc>
              </a:pPr>
            </a:p>
            <a:p>
              <a:pPr algn="l" marL="0" indent="0" lvl="0">
                <a:lnSpc>
                  <a:spcPts val="4059"/>
                </a:lnSpc>
              </a:pPr>
              <a:r>
                <a:rPr lang="en-US" sz="28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It handles missing values and analyzes the distribution of key features. </a:t>
              </a:r>
            </a:p>
            <a:p>
              <a:pPr algn="l" marL="0" indent="0" lvl="0">
                <a:lnSpc>
                  <a:spcPts val="4059"/>
                </a:lnSpc>
              </a:pPr>
            </a:p>
            <a:p>
              <a:pPr algn="l" marL="0" indent="0" lvl="0">
                <a:lnSpc>
                  <a:spcPts val="4059"/>
                </a:lnSpc>
              </a:pPr>
              <a:r>
                <a:rPr lang="en-US" sz="28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This analysis provides a clear foundation for our machine learning model.</a:t>
              </a:r>
            </a:p>
            <a:p>
              <a:pPr algn="l" marL="0" indent="0" lvl="0">
                <a:lnSpc>
                  <a:spcPts val="40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9</a:t>
            </a:r>
          </a:p>
        </p:txBody>
      </p:sp>
      <p:sp>
        <p:nvSpPr>
          <p:cNvPr name="AutoShape 10" id="10"/>
          <p:cNvSpPr/>
          <p:nvPr/>
        </p:nvSpPr>
        <p:spPr>
          <a:xfrm flipH="true" flipV="true">
            <a:off x="8358070" y="1986114"/>
            <a:ext cx="0" cy="6314771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2E3A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847676" y="8707792"/>
            <a:ext cx="2735474" cy="893408"/>
          </a:xfrm>
          <a:custGeom>
            <a:avLst/>
            <a:gdLst/>
            <a:ahLst/>
            <a:cxnLst/>
            <a:rect r="r" b="b" t="t" l="l"/>
            <a:pathLst>
              <a:path h="893408" w="2735474">
                <a:moveTo>
                  <a:pt x="0" y="0"/>
                </a:moveTo>
                <a:lnTo>
                  <a:pt x="2735474" y="0"/>
                </a:lnTo>
                <a:lnTo>
                  <a:pt x="2735474" y="893408"/>
                </a:lnTo>
                <a:lnTo>
                  <a:pt x="0" y="8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5" t="-26615" r="-10522" b="-1048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39373" y="3654108"/>
            <a:ext cx="11425199" cy="1991847"/>
          </a:xfrm>
          <a:custGeom>
            <a:avLst/>
            <a:gdLst/>
            <a:ahLst/>
            <a:cxnLst/>
            <a:rect r="r" b="b" t="t" l="l"/>
            <a:pathLst>
              <a:path h="1991847" w="11425199">
                <a:moveTo>
                  <a:pt x="0" y="0"/>
                </a:moveTo>
                <a:lnTo>
                  <a:pt x="11425199" y="0"/>
                </a:lnTo>
                <a:lnTo>
                  <a:pt x="11425199" y="1991847"/>
                </a:lnTo>
                <a:lnTo>
                  <a:pt x="0" y="1991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48" r="0" b="-54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5970" y="647700"/>
            <a:ext cx="17108247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Implementation &amp;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 Cod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85970" y="2525256"/>
            <a:ext cx="16573330" cy="1257281"/>
            <a:chOff x="0" y="0"/>
            <a:chExt cx="22097774" cy="16763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22097774" cy="726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9"/>
                </a:lnSpc>
              </a:pPr>
              <a:r>
                <a:rPr lang="en-US" b="true" sz="3499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Statistical summary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91117"/>
              <a:ext cx="22097774" cy="585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10</a:t>
            </a:r>
          </a:p>
        </p:txBody>
      </p:sp>
      <p:sp>
        <p:nvSpPr>
          <p:cNvPr name="AutoShape 10" id="10"/>
          <p:cNvSpPr/>
          <p:nvPr/>
        </p:nvSpPr>
        <p:spPr>
          <a:xfrm flipH="true" flipV="true">
            <a:off x="2666557" y="6207930"/>
            <a:ext cx="1324689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3639373" y="6575732"/>
            <a:ext cx="11425199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elegraf 1"/>
                <a:ea typeface="Telegraf 1"/>
                <a:cs typeface="Telegraf 1"/>
                <a:sym typeface="Telegraf 1"/>
              </a:rPr>
              <a:t>This code performs data cleaning and exploratory analysis to build a solid foundation for our future machine learning model.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970" y="647700"/>
            <a:ext cx="12925255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0"/>
              </a:lnSpc>
            </a:pPr>
            <a:r>
              <a:rPr lang="en-US" b="true" sz="7000" spc="-70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Findings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 &amp; Modeling</a:t>
            </a:r>
            <a:r>
              <a:rPr lang="en-US" b="true" sz="7000" spc="-7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 Direction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85970" y="3352800"/>
            <a:ext cx="6867355" cy="4324331"/>
            <a:chOff x="0" y="0"/>
            <a:chExt cx="9156474" cy="576577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9156474" cy="726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9"/>
                </a:lnSpc>
              </a:pPr>
              <a:r>
                <a:rPr lang="en-US" b="true" sz="3499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What did we find in the data?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91117"/>
              <a:ext cx="9156474" cy="4674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Lo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t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s 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of N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eptune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 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attacks </a:t>
              </a:r>
            </a:p>
            <a:p>
              <a:pPr algn="l">
                <a:lnSpc>
                  <a:spcPts val="3499"/>
                </a:lnSpc>
              </a:pP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DOS (Denial of Service) attacks were by far the most prevalent form of attack </a:t>
              </a:r>
            </a:p>
            <a:p>
              <a:pPr algn="l">
                <a:lnSpc>
                  <a:spcPts val="3499"/>
                </a:lnSpc>
              </a:pPr>
            </a:p>
            <a:p>
              <a:pPr algn="l">
                <a:lnSpc>
                  <a:spcPts val="3499"/>
                </a:lnSpc>
              </a:pP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U2R (User to Root) attacks were least prevalent 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2E3A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11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48058" y="3352800"/>
            <a:ext cx="6867355" cy="3009881"/>
            <a:chOff x="0" y="0"/>
            <a:chExt cx="9156474" cy="401317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9156474" cy="726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9"/>
                </a:lnSpc>
              </a:pPr>
              <a:r>
                <a:rPr lang="en-US" b="true" sz="3499">
                  <a:solidFill>
                    <a:srgbClr val="4A90A9"/>
                  </a:solidFill>
                  <a:latin typeface="Telegraf 1 Bold"/>
                  <a:ea typeface="Telegraf 1 Bold"/>
                  <a:cs typeface="Telegraf 1 Bold"/>
                  <a:sym typeface="Telegraf 1 Bold"/>
                </a:rPr>
                <a:t>What model will we use next?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91117"/>
              <a:ext cx="9156474" cy="2922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Categoriza</a:t>
              </a: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tion problem </a:t>
              </a:r>
            </a:p>
            <a:p>
              <a:pPr algn="l">
                <a:lnSpc>
                  <a:spcPts val="3499"/>
                </a:lnSpc>
              </a:pPr>
            </a:p>
            <a:p>
              <a:pPr algn="l">
                <a:lnSpc>
                  <a:spcPts val="3499"/>
                </a:lnSpc>
              </a:pPr>
              <a:r>
                <a:rPr lang="en-US" sz="2499" strike="noStrike" u="none">
                  <a:solidFill>
                    <a:srgbClr val="2E3A59"/>
                  </a:solidFill>
                  <a:latin typeface="Telegraf 1"/>
                  <a:ea typeface="Telegraf 1"/>
                  <a:cs typeface="Telegraf 1"/>
                  <a:sym typeface="Telegraf 1"/>
                </a:rPr>
                <a:t>Decision Tree model to categorize type of attack </a:t>
              </a:r>
            </a:p>
            <a:p>
              <a:pPr algn="l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847676" y="8707792"/>
            <a:ext cx="2735474" cy="893408"/>
          </a:xfrm>
          <a:custGeom>
            <a:avLst/>
            <a:gdLst/>
            <a:ahLst/>
            <a:cxnLst/>
            <a:rect r="r" b="b" t="t" l="l"/>
            <a:pathLst>
              <a:path h="893408" w="2735474">
                <a:moveTo>
                  <a:pt x="0" y="0"/>
                </a:moveTo>
                <a:lnTo>
                  <a:pt x="2735474" y="0"/>
                </a:lnTo>
                <a:lnTo>
                  <a:pt x="2735474" y="893408"/>
                </a:lnTo>
                <a:lnTo>
                  <a:pt x="0" y="8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5" t="-26615" r="-10522" b="-1048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2E3A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847676" y="8707792"/>
            <a:ext cx="2735474" cy="893408"/>
          </a:xfrm>
          <a:custGeom>
            <a:avLst/>
            <a:gdLst/>
            <a:ahLst/>
            <a:cxnLst/>
            <a:rect r="r" b="b" t="t" l="l"/>
            <a:pathLst>
              <a:path h="893408" w="2735474">
                <a:moveTo>
                  <a:pt x="0" y="0"/>
                </a:moveTo>
                <a:lnTo>
                  <a:pt x="2735474" y="0"/>
                </a:lnTo>
                <a:lnTo>
                  <a:pt x="2735474" y="893408"/>
                </a:lnTo>
                <a:lnTo>
                  <a:pt x="0" y="8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5" t="-26615" r="-10522" b="-1048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6921" y="551511"/>
            <a:ext cx="7069987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b="true" sz="5000" spc="-50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EDA </a:t>
            </a:r>
            <a:r>
              <a:rPr lang="en-US" b="true" sz="5000" spc="-50" strike="noStrike" u="none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NSL-KDD Dataset</a:t>
            </a:r>
          </a:p>
          <a:p>
            <a:pPr algn="ctr" marL="0" indent="0" lvl="0">
              <a:lnSpc>
                <a:spcPts val="55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1294461"/>
            <a:ext cx="6185991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A90A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Group 2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A90A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Zahra Joulaei, Will Daly, Wei Dong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30629" y="4633054"/>
            <a:ext cx="9826302" cy="1069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Thank You!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2E3A59"/>
                </a:solidFill>
                <a:latin typeface="Telegraf 1 Bold"/>
                <a:ea typeface="Telegraf 1 Bold"/>
                <a:cs typeface="Telegraf 1 Bold"/>
                <a:sym typeface="Telegraf 1 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DAHA4LtCMo8</dc:identifier>
  <dcterms:modified xsi:type="dcterms:W3CDTF">2011-08-01T06:04:30Z</dcterms:modified>
  <cp:revision>1</cp:revision>
  <dc:title>NSL-KDD Dataset</dc:title>
</cp:coreProperties>
</file>